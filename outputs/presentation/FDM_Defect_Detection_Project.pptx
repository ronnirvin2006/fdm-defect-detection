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AI-Based FDM 3D Printing Defect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ECD"/>
                </a:solidFill>
              </a:defRPr>
            </a:pPr>
            <a:r>
              <a:t>CNN transfer learning system for automated print quality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114300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96.52%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Test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468880" cy="114300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8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Detected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468880" cy="114300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4405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828800"/>
            <a:ext cx="2468880" cy="114300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96.50%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Weighted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749039"/>
            <a:ext cx="10149840" cy="12801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700">
                <a:solidFill>
                  <a:srgbClr val="F2F6FA"/>
                </a:solidFill>
              </a:defRPr>
            </a:pPr>
            <a:r>
              <a:t>Application Purpose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- Automatically classify FDM 3D printing defects from camera images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- Provide confidence score, likely causes, and corrective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5303520" cy="429768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900">
                <a:solidFill>
                  <a:srgbClr val="F2F6FA"/>
                </a:solidFill>
              </a:defRPr>
            </a:pPr>
            <a:r>
              <a:t>Manual inspection limitations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Slow and inconsistent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Defects may appear while print is still running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Failed prints waste time, filament, and machine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417320"/>
            <a:ext cx="5120640" cy="429768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900">
                <a:solidFill>
                  <a:srgbClr val="F2F6FA"/>
                </a:solidFill>
              </a:defRPr>
            </a:pPr>
            <a:r>
              <a:t>AI solution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Camera image is passed to a CNN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Model predicts defect category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System gives feedback for quality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5577840" cy="48463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600">
                <a:solidFill>
                  <a:srgbClr val="F2F6FA"/>
                </a:solidFill>
              </a:defRPr>
            </a:pPr>
            <a:r>
              <a:t>Expanded dataset</a:t>
            </a:r>
          </a:p>
          <a:p>
            <a:pPr>
              <a:spcAft>
                <a:spcPts val="700"/>
              </a:spcAft>
              <a:defRPr sz="1600">
                <a:solidFill>
                  <a:srgbClr val="B2BECD"/>
                </a:solidFill>
              </a:defRPr>
            </a:pPr>
            <a:r>
              <a:t>- Merged Kaggle FDM defect datasets</a:t>
            </a:r>
          </a:p>
          <a:p>
            <a:pPr>
              <a:spcAft>
                <a:spcPts val="700"/>
              </a:spcAft>
              <a:defRPr sz="1600">
                <a:solidFill>
                  <a:srgbClr val="B2BECD"/>
                </a:solidFill>
              </a:defRPr>
            </a:pPr>
            <a:r>
              <a:t>- Folder-per-class image classification format</a:t>
            </a:r>
          </a:p>
          <a:p>
            <a:pPr>
              <a:spcAft>
                <a:spcPts val="700"/>
              </a:spcAft>
              <a:defRPr sz="1600">
                <a:solidFill>
                  <a:srgbClr val="B2BECD"/>
                </a:solidFill>
              </a:defRPr>
            </a:pPr>
            <a:r>
              <a:t>- 0 corrupt images found</a:t>
            </a:r>
          </a:p>
          <a:p>
            <a:pPr>
              <a:spcAft>
                <a:spcPts val="700"/>
              </a:spcAft>
              <a:defRPr sz="1600">
                <a:solidFill>
                  <a:srgbClr val="B2BECD"/>
                </a:solidFill>
              </a:defRPr>
            </a:pPr>
            <a:r>
              <a:t>- Classes: Cracking, Layer_shifting, No_defect, Off_platform, Spaghetti, Stringing, Under_extrusion, Warping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417320"/>
            <a:ext cx="2194560" cy="10515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3083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0" y="1417320"/>
            <a:ext cx="2194560" cy="10515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661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971800"/>
            <a:ext cx="2194560" cy="10515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661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2971800"/>
            <a:ext cx="2194560" cy="10515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224x224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Input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Defects Detected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4937760" cy="429768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2000">
                <a:solidFill>
                  <a:srgbClr val="F2F6FA"/>
                </a:solidFill>
              </a:defRPr>
            </a:pPr>
            <a:r>
              <a:t>Detected classes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Cracking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Layer_shifting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No_defect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Off_platform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417320"/>
            <a:ext cx="4937760" cy="429768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2000">
                <a:solidFill>
                  <a:srgbClr val="F2F6FA"/>
                </a:solidFill>
              </a:defRPr>
            </a:pPr>
            <a:r>
              <a:t>Detected classes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Spaghetti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Stringing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Under_extrusion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Warping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ECD"/>
                </a:solidFill>
              </a:defRPr>
            </a:pPr>
            <a:r>
              <a:t>EfficientNetB0 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972800" cy="49377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2000">
                <a:solidFill>
                  <a:srgbClr val="F2F6FA"/>
                </a:solidFill>
              </a:defRPr>
            </a:pPr>
            <a:r>
              <a:t>Pipeline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Input image resized to 224 x 224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Data augmentation improves robustness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EfficientNetB0 backbone extracts visual features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Dense softmax layer predicts 8 classes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Class weighting handles imbalanced classes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Fine-tuning adapts ImageNet features to FDM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Training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0" cy="49377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2000">
                <a:solidFill>
                  <a:srgbClr val="F2F6FA"/>
                </a:solidFill>
              </a:defRPr>
            </a:pPr>
            <a:r>
              <a:t>Workflow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Load and inspect dataset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Stratified train/validation/test split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Train classifier head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Fine-tune final EfficientNet layers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Save best validation model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Evaluate on held-out test set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Generate confusion matrix and classification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Final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96.52%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371600"/>
            <a:ext cx="2560320" cy="11887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96.95%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Macro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2560320" cy="11887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2B886"/>
                </a:solidFill>
              </a:defRPr>
            </a:pPr>
            <a:r>
              <a:t>96.50%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Weighted F1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371600"/>
            <a:ext cx="2194560" cy="11887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C107"/>
                </a:solidFill>
              </a:defRPr>
            </a:pPr>
            <a:r>
              <a:t>0.1058</a:t>
            </a:r>
          </a:p>
          <a:p>
            <a:pPr algn="ctr">
              <a:defRPr sz="1200">
                <a:solidFill>
                  <a:srgbClr val="B2BECD"/>
                </a:solidFill>
              </a:defRPr>
            </a:pPr>
            <a:r>
              <a:t>Test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54680"/>
            <a:ext cx="10698480" cy="233172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800">
                <a:solidFill>
                  <a:srgbClr val="F2F6FA"/>
                </a:solidFill>
              </a:defRPr>
            </a:pPr>
            <a:r>
              <a:t>Key observation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Most defect classes achieved high F1-score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No_defect and Under_extrusion are comparatively harder due to visual similarity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Result is strong for mixed datasets and real-world image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Training Curves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34440"/>
            <a:ext cx="987552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626364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2BECD"/>
                </a:solidFill>
              </a:defRPr>
            </a:pPr>
            <a:r>
              <a:t>Training and validation accuracy/loss across training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34440"/>
            <a:ext cx="9875520" cy="9875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626364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2BECD"/>
                </a:solidFill>
              </a:defRPr>
            </a:pPr>
            <a:r>
              <a:t>Class-wise correct and incorrect predictions on the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Per-Class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2F6FA"/>
                </a:solidFill>
                <a:latin typeface="DejaVu Sans Mono"/>
              </a:defRPr>
            </a:pPr>
            <a:r>
              <a:t>                 precision    recall  f1-score   support</a:t>
            </a:r>
            <a:br/>
            <a:br/>
            <a:r>
              <a:t>       Cracking     0.9855    0.9577    0.9714        71</a:t>
            </a:r>
            <a:br/>
            <a:r>
              <a:t> Layer_shifting     0.9815    0.9815    0.9815        54</a:t>
            </a:r>
            <a:br/>
            <a:r>
              <a:t>      No_defect     0.9837    0.8963    0.9380       135</a:t>
            </a:r>
            <a:br/>
            <a:r>
              <a:t>   Off_platform     0.9333    1.0000    0.9655        14</a:t>
            </a:r>
            <a:br/>
            <a:r>
              <a:t>      Spaghetti     0.9730    1.0000    0.9863        36</a:t>
            </a:r>
            <a:br/>
            <a:r>
              <a:t>      Stringing     0.9783    1.0000    0.9890       135</a:t>
            </a:r>
            <a:br/>
            <a:r>
              <a:t>Under_extrusion     0.9161    0.9704    0.9424       135</a:t>
            </a:r>
            <a:br/>
            <a:r>
              <a:t>        Warping     0.9756    0.9877    0.9816        81</a:t>
            </a:r>
            <a:br/>
            <a:br/>
            <a:r>
              <a:t>       accuracy                         0.9652       661</a:t>
            </a:r>
            <a:br/>
            <a:r>
              <a:t>      macro avg     0.9659    0.9742    0.9695       661</a:t>
            </a:r>
            <a:br/>
            <a:r>
              <a:t>   weighted avg     0.9662    0.9652    0.9650       661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Interactive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800">
                <a:solidFill>
                  <a:srgbClr val="F2F6FA"/>
                </a:solidFill>
              </a:defRPr>
            </a:pPr>
            <a:r>
              <a:t>App features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Continuous OpenCV camera scanning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Five-prediction temporal averaging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Uncertainty warning below 60%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AI feedback and risk level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Axis and nozzle inspection guidance</a:t>
            </a:r>
          </a:p>
          <a:p>
            <a:pPr>
              <a:spcAft>
                <a:spcPts val="700"/>
              </a:spcAft>
              <a:defRPr sz="1800">
                <a:solidFill>
                  <a:srgbClr val="B2BECD"/>
                </a:solidFill>
              </a:defRPr>
            </a:pPr>
            <a:r>
              <a:t>- Optional OctoPrint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234440"/>
            <a:ext cx="5120640" cy="493776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700">
                <a:solidFill>
                  <a:srgbClr val="F2F6FA"/>
                </a:solidFill>
              </a:defRPr>
            </a:pPr>
            <a:r>
              <a:t>Recommended launch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cd /home/ron/ml/fdm_defect_detection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.venv/bin/python src/live_dashboard.py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Open: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http://127.0.0.1:8765</a:t>
            </a: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2BECD"/>
                </a:solidFill>
              </a:defRPr>
            </a:pPr>
            <a:r>
              <a:t>Camera releases when page closes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AI Feedback and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900">
                <a:solidFill>
                  <a:srgbClr val="F2F6FA"/>
                </a:solidFill>
              </a:defRPr>
            </a:pPr>
            <a:r>
              <a:t>Beyond classification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Predicts class, confidence, and operational risk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Maps defects to likely causes and corrective actions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Marks low-confidence frames as uncertain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Shows temperature and progress when OctoPrint is connected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Keeps unavailable values explicit instead of fabricating telemetry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Never moves axes or changes heaters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900">
                <a:solidFill>
                  <a:srgbClr val="F2F6FA"/>
                </a:solidFill>
              </a:defRPr>
            </a:pPr>
            <a:r>
              <a:t>Current limitations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Model predicts image-level class, not bounding-box location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- 96.52% is an image-level held-out result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Cross-printer and cross-recording generalization is not yet established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Accuracy may change with camera angle, lighting, printer, or material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Monitoring is decision support, not closed-loop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2000">
                <a:solidFill>
                  <a:srgbClr val="F2F6FA"/>
                </a:solidFill>
              </a:defRPr>
            </a:pPr>
            <a:r>
              <a:t>Possible improvements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Add more classes: over-extrusion, nozzle clog, blobs/zits, layer separation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Add YOLO-based defect localization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Use Grad-CAM in live feedback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Collect own printer-camera dataset</a:t>
            </a:r>
          </a:p>
          <a:p>
            <a:pPr>
              <a:spcAft>
                <a:spcPts val="700"/>
              </a:spcAft>
              <a:defRPr sz="2000">
                <a:solidFill>
                  <a:srgbClr val="B2BECD"/>
                </a:solidFill>
              </a:defRPr>
            </a:pPr>
            <a:r>
              <a:t>- Add human-approved closed-loop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A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607040" cy="4114800"/>
          </a:xfrm>
          <a:prstGeom prst="rect">
            <a:avLst/>
          </a:prstGeom>
          <a:solidFill>
            <a:srgbClr val="1C2632"/>
          </a:solidFill>
          <a:ln>
            <a:solidFill>
              <a:srgbClr val="30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37160"/>
          <a:lstStyle/>
          <a:p>
            <a:pPr algn="ctr">
              <a:spcAft>
                <a:spcPts val="700"/>
              </a:spcAft>
              <a:defRPr sz="1900">
                <a:solidFill>
                  <a:srgbClr val="F2F6FA"/>
                </a:solidFill>
              </a:defRPr>
            </a:pPr>
            <a:r>
              <a:t>Conclusion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Built an eight-class AI system for FDM defect detection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EfficientNetB0 achieved 96.52% image-level test accuracy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OpenCV dashboard provides continuous monitoring and uncertainty handling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Explainability, feedback, and optional telemetry support operator decisions</a:t>
            </a:r>
          </a:p>
          <a:p>
            <a:pPr>
              <a:spcAft>
                <a:spcPts val="700"/>
              </a:spcAft>
              <a:defRPr sz="1900">
                <a:solidFill>
                  <a:srgbClr val="B2BECD"/>
                </a:solidFill>
              </a:defRPr>
            </a:pPr>
            <a:r>
              <a:t>- External printer-session validation remains the next research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2BEC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