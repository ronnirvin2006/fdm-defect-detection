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AI-Based FDM 3D Printing Defect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2BECD"/>
                </a:solidFill>
              </a:defRPr>
            </a:pPr>
            <a:r>
              <a:t>CNN transfer learning system for automated print quality inspection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468880" cy="114300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96.52%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Test Accuracy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828800"/>
            <a:ext cx="2468880" cy="114300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8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Detected 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2468880" cy="114300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4405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Images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1828800"/>
            <a:ext cx="2468880" cy="114300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96.50%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Weighted F1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749039"/>
            <a:ext cx="10149840" cy="128016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1700">
                <a:solidFill>
                  <a:srgbClr val="F2F6FA"/>
                </a:solidFill>
              </a:defRPr>
            </a:pPr>
            <a:r>
              <a:t>Application Purpose</a:t>
            </a:r>
          </a:p>
          <a:p>
            <a:pPr>
              <a:spcAft>
                <a:spcPts val="700"/>
              </a:spcAft>
              <a:defRPr sz="1700">
                <a:solidFill>
                  <a:srgbClr val="B2BECD"/>
                </a:solidFill>
              </a:defRPr>
            </a:pPr>
            <a:r>
              <a:t>- Automatically classify FDM 3D printing defects from camera images</a:t>
            </a:r>
          </a:p>
          <a:p>
            <a:pPr>
              <a:spcAft>
                <a:spcPts val="700"/>
              </a:spcAft>
              <a:defRPr sz="1700">
                <a:solidFill>
                  <a:srgbClr val="B2BECD"/>
                </a:solidFill>
              </a:defRPr>
            </a:pPr>
            <a:r>
              <a:t>- Provide confidence score, likely causes, and corrective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5303520" cy="429768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1900">
                <a:solidFill>
                  <a:srgbClr val="F2F6FA"/>
                </a:solidFill>
              </a:defRPr>
            </a:pPr>
            <a:r>
              <a:t>Manual inspection limitations</a:t>
            </a:r>
          </a:p>
          <a:p>
            <a:pPr>
              <a:spcAft>
                <a:spcPts val="700"/>
              </a:spcAft>
              <a:defRPr sz="1900">
                <a:solidFill>
                  <a:srgbClr val="B2BECD"/>
                </a:solidFill>
              </a:defRPr>
            </a:pPr>
            <a:r>
              <a:t>- Slow and inconsistent</a:t>
            </a:r>
          </a:p>
          <a:p>
            <a:pPr>
              <a:spcAft>
                <a:spcPts val="700"/>
              </a:spcAft>
              <a:defRPr sz="1900">
                <a:solidFill>
                  <a:srgbClr val="B2BECD"/>
                </a:solidFill>
              </a:defRPr>
            </a:pPr>
            <a:r>
              <a:t>- Defects may appear while print is still running</a:t>
            </a:r>
          </a:p>
          <a:p>
            <a:pPr>
              <a:spcAft>
                <a:spcPts val="700"/>
              </a:spcAft>
              <a:defRPr sz="1900">
                <a:solidFill>
                  <a:srgbClr val="B2BECD"/>
                </a:solidFill>
              </a:defRPr>
            </a:pPr>
            <a:r>
              <a:t>- Failed prints waste time, filament, and machine usage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417320"/>
            <a:ext cx="5120640" cy="429768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1900">
                <a:solidFill>
                  <a:srgbClr val="F2F6FA"/>
                </a:solidFill>
              </a:defRPr>
            </a:pPr>
            <a:r>
              <a:t>AI solution</a:t>
            </a:r>
          </a:p>
          <a:p>
            <a:pPr>
              <a:spcAft>
                <a:spcPts val="700"/>
              </a:spcAft>
              <a:defRPr sz="1900">
                <a:solidFill>
                  <a:srgbClr val="B2BECD"/>
                </a:solidFill>
              </a:defRPr>
            </a:pPr>
            <a:r>
              <a:t>- Camera image is passed to a CNN</a:t>
            </a:r>
          </a:p>
          <a:p>
            <a:pPr>
              <a:spcAft>
                <a:spcPts val="700"/>
              </a:spcAft>
              <a:defRPr sz="1900">
                <a:solidFill>
                  <a:srgbClr val="B2BECD"/>
                </a:solidFill>
              </a:defRPr>
            </a:pPr>
            <a:r>
              <a:t>- Model predicts defect category</a:t>
            </a:r>
          </a:p>
          <a:p>
            <a:pPr>
              <a:spcAft>
                <a:spcPts val="700"/>
              </a:spcAft>
              <a:defRPr sz="1900">
                <a:solidFill>
                  <a:srgbClr val="B2BECD"/>
                </a:solidFill>
              </a:defRPr>
            </a:pPr>
            <a:r>
              <a:t>- System gives feedback for quality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5577840" cy="484632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1600">
                <a:solidFill>
                  <a:srgbClr val="F2F6FA"/>
                </a:solidFill>
              </a:defRPr>
            </a:pPr>
            <a:r>
              <a:t>Expanded dataset</a:t>
            </a:r>
          </a:p>
          <a:p>
            <a:pPr>
              <a:spcAft>
                <a:spcPts val="700"/>
              </a:spcAft>
              <a:defRPr sz="1600">
                <a:solidFill>
                  <a:srgbClr val="B2BECD"/>
                </a:solidFill>
              </a:defRPr>
            </a:pPr>
            <a:r>
              <a:t>- Merged Kaggle FDM defect datasets</a:t>
            </a:r>
          </a:p>
          <a:p>
            <a:pPr>
              <a:spcAft>
                <a:spcPts val="700"/>
              </a:spcAft>
              <a:defRPr sz="1600">
                <a:solidFill>
                  <a:srgbClr val="B2BECD"/>
                </a:solidFill>
              </a:defRPr>
            </a:pPr>
            <a:r>
              <a:t>- Folder-per-class image classification format</a:t>
            </a:r>
          </a:p>
          <a:p>
            <a:pPr>
              <a:spcAft>
                <a:spcPts val="700"/>
              </a:spcAft>
              <a:defRPr sz="1600">
                <a:solidFill>
                  <a:srgbClr val="B2BECD"/>
                </a:solidFill>
              </a:defRPr>
            </a:pPr>
            <a:r>
              <a:t>- 0 corrupt images found</a:t>
            </a:r>
          </a:p>
          <a:p>
            <a:pPr>
              <a:spcAft>
                <a:spcPts val="700"/>
              </a:spcAft>
              <a:defRPr sz="1600">
                <a:solidFill>
                  <a:srgbClr val="B2BECD"/>
                </a:solidFill>
              </a:defRPr>
            </a:pPr>
            <a:r>
              <a:t>- Classes: Cracking, Layer_shifting, No_defect, Off_platform, Spaghetti, Stringing, Under_extrusion, Warping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0" y="1417320"/>
            <a:ext cx="2194560" cy="105156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3083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0" y="1417320"/>
            <a:ext cx="2194560" cy="105156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661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2971800"/>
            <a:ext cx="2194560" cy="105156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661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Testing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052560" y="2971800"/>
            <a:ext cx="2194560" cy="105156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224x224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Input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Defects Detected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4937760" cy="429768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2000">
                <a:solidFill>
                  <a:srgbClr val="F2F6FA"/>
                </a:solidFill>
              </a:defRPr>
            </a:pPr>
            <a:r>
              <a:t>Detected classes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Cracking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Layer_shifting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No_defect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Off_platform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417320"/>
            <a:ext cx="4937760" cy="429768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2000">
                <a:solidFill>
                  <a:srgbClr val="F2F6FA"/>
                </a:solidFill>
              </a:defRPr>
            </a:pPr>
            <a:r>
              <a:t>Detected classes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Spaghetti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Stringing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Under_extrusion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Warping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2BECD"/>
                </a:solidFill>
              </a:defRPr>
            </a:pPr>
            <a:r>
              <a:t>EfficientNetB0 transfer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34440"/>
            <a:ext cx="10972800" cy="493776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2000">
                <a:solidFill>
                  <a:srgbClr val="F2F6FA"/>
                </a:solidFill>
              </a:defRPr>
            </a:pPr>
            <a:r>
              <a:t>Pipeline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Input image resized to 224 x 224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Data augmentation improves robustness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EfficientNetB0 backbone extracts visual features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Dense softmax layer predicts 8 classes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Class weighting handles imbalanced classes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Fine-tuning adapts ImageNet features to FDM defects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Training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0" cy="493776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2000">
                <a:solidFill>
                  <a:srgbClr val="F2F6FA"/>
                </a:solidFill>
              </a:defRPr>
            </a:pPr>
            <a:r>
              <a:t>Workflow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Load and inspect dataset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Stratified train/validation/test split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Train classifier head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Fine-tune final EfficientNet layers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Save best validation model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Evaluate on held-out test set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Generate confusion matrix and classification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Final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2560320" cy="118872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96.52%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Test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0" y="1371600"/>
            <a:ext cx="2560320" cy="118872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96.95%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Macro F1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371600"/>
            <a:ext cx="2560320" cy="118872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12B886"/>
                </a:solidFill>
              </a:defRPr>
            </a:pPr>
            <a:r>
              <a:t>96.50%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Weighted F1</a:t>
            </a:r>
          </a:p>
        </p:txBody>
      </p:sp>
      <p:sp>
        <p:nvSpPr>
          <p:cNvPr id="6" name="Rectangle 5"/>
          <p:cNvSpPr/>
          <p:nvPr/>
        </p:nvSpPr>
        <p:spPr>
          <a:xfrm>
            <a:off x="9235440" y="1371600"/>
            <a:ext cx="2194560" cy="118872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C107"/>
                </a:solidFill>
              </a:defRPr>
            </a:pPr>
            <a:r>
              <a:t>0.1058</a:t>
            </a:r>
          </a:p>
          <a:p>
            <a:pPr algn="ctr">
              <a:defRPr sz="1200">
                <a:solidFill>
                  <a:srgbClr val="B2BECD"/>
                </a:solidFill>
              </a:defRPr>
            </a:pPr>
            <a:r>
              <a:t>Test Loss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154680"/>
            <a:ext cx="10698480" cy="233172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1800">
                <a:solidFill>
                  <a:srgbClr val="F2F6FA"/>
                </a:solidFill>
              </a:defRPr>
            </a:pPr>
            <a:r>
              <a:t>Key observation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- Most defect classes achieved high F1-score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- No_defect and Under_extrusion are comparatively harder due to visual similarity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- Result is strong for mixed datasets and real-world image variation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Training Curves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234440"/>
            <a:ext cx="9875520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3000" y="6263640"/>
            <a:ext cx="9875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B2BECD"/>
                </a:solidFill>
              </a:defRPr>
            </a:pPr>
            <a:r>
              <a:t>Training and validation accuracy/loss across training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Confusion Matrix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234440"/>
            <a:ext cx="9875520" cy="9875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3000" y="6263640"/>
            <a:ext cx="9875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B2BECD"/>
                </a:solidFill>
              </a:defRPr>
            </a:pPr>
            <a:r>
              <a:t>Class-wise correct and incorrect predictions on the test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Per-Class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2F6FA"/>
                </a:solidFill>
                <a:latin typeface="DejaVu Sans Mono"/>
              </a:defRPr>
            </a:pPr>
            <a:r>
              <a:t>                 precision    recall  f1-score   support</a:t>
            </a:r>
            <a:br/>
            <a:br/>
            <a:r>
              <a:t>       Cracking     0.9855    0.9577    0.9714        71</a:t>
            </a:r>
            <a:br/>
            <a:r>
              <a:t> Layer_shifting     0.9815    0.9815    0.9815        54</a:t>
            </a:r>
            <a:br/>
            <a:r>
              <a:t>      No_defect     0.9837    0.8963    0.9380       135</a:t>
            </a:r>
            <a:br/>
            <a:r>
              <a:t>   Off_platform     0.9333    1.0000    0.9655        14</a:t>
            </a:r>
            <a:br/>
            <a:r>
              <a:t>      Spaghetti     0.9730    1.0000    0.9863        36</a:t>
            </a:r>
            <a:br/>
            <a:r>
              <a:t>      Stringing     0.9783    1.0000    0.9890       135</a:t>
            </a:r>
            <a:br/>
            <a:r>
              <a:t>Under_extrusion     0.9161    0.9704    0.9424       135</a:t>
            </a:r>
            <a:br/>
            <a:r>
              <a:t>        Warping     0.9756    0.9877    0.9816        81</a:t>
            </a:r>
            <a:br/>
            <a:br/>
            <a:r>
              <a:t>       accuracy                         0.9652       661</a:t>
            </a:r>
            <a:br/>
            <a:r>
              <a:t>      macro avg     0.9659    0.9742    0.9695       661</a:t>
            </a:r>
            <a:br/>
            <a:r>
              <a:t>   weighted avg     0.9662    0.9652    0.9650       661</a:t>
            </a:r>
            <a:br/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Interactive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1800">
                <a:solidFill>
                  <a:srgbClr val="F2F6FA"/>
                </a:solidFill>
              </a:defRPr>
            </a:pPr>
            <a:r>
              <a:t>App features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- Upload image prediction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- Live webcam monitoring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- Camera snapshot fallback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- Confidence chart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- AI feedback with risk level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- Possible causes and corrective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234440"/>
            <a:ext cx="5120640" cy="493776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1800">
                <a:solidFill>
                  <a:srgbClr val="F2F6FA"/>
                </a:solidFill>
              </a:defRPr>
            </a:pPr>
            <a:r>
              <a:t>Launch command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cd /home/ron/ml/fdm_defect_detection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.venv/bin/streamlit run src/app.py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Open:</a:t>
            </a:r>
          </a:p>
          <a:p>
            <a:pPr>
              <a:spcAft>
                <a:spcPts val="700"/>
              </a:spcAft>
              <a:defRPr sz="1800">
                <a:solidFill>
                  <a:srgbClr val="B2BECD"/>
                </a:solidFill>
              </a:defRPr>
            </a:pPr>
            <a:r>
              <a:t>http://localhost:8501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AI Feedback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89920" cy="489204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2000">
                <a:solidFill>
                  <a:srgbClr val="F2F6FA"/>
                </a:solidFill>
              </a:defRPr>
            </a:pPr>
            <a:r>
              <a:t>Beyond classification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Predicts the defect class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Reports confidence percentage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Maps defect to common root causes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Suggests corrective actions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Live mode overlays prediction on webcam feed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Helps operator decide whether to continue, pause, or inspect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89920" cy="489204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2000">
                <a:solidFill>
                  <a:srgbClr val="F2F6FA"/>
                </a:solidFill>
              </a:defRPr>
            </a:pPr>
            <a:r>
              <a:t>Current limitations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Model predicts image-level class, not bounding-box location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Accuracy may change with new camera angle, lighting, printer, or material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Some defects need more labeled images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Live webcam mode is a prototype monitor, not closed-loop printer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89920" cy="489204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2000">
                <a:solidFill>
                  <a:srgbClr val="F2F6FA"/>
                </a:solidFill>
              </a:defRPr>
            </a:pPr>
            <a:r>
              <a:t>Possible improvements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Add more classes: over-extrusion, nozzle clog, blobs/zits, layer separation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Add YOLO-based defect localization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Use Grad-CAM in live feedback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Collect own printer-camera dataset</a:t>
            </a:r>
          </a:p>
          <a:p>
            <a:pPr>
              <a:spcAft>
                <a:spcPts val="700"/>
              </a:spcAft>
              <a:defRPr sz="2000">
                <a:solidFill>
                  <a:srgbClr val="B2BECD"/>
                </a:solidFill>
              </a:defRPr>
            </a:pPr>
            <a:r>
              <a:t>- Add human-approved closed-loop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6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2F6FA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10607040" cy="4114800"/>
          </a:xfrm>
          <a:prstGeom prst="rect">
            <a:avLst/>
          </a:prstGeom>
          <a:solidFill>
            <a:srgbClr val="1C2632"/>
          </a:solidFill>
          <a:ln>
            <a:solidFill>
              <a:srgbClr val="30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46304" tIns="137160"/>
          <a:lstStyle/>
          <a:p>
            <a:pPr algn="ctr">
              <a:spcAft>
                <a:spcPts val="700"/>
              </a:spcAft>
              <a:defRPr sz="2100">
                <a:solidFill>
                  <a:srgbClr val="F2F6FA"/>
                </a:solidFill>
              </a:defRPr>
            </a:pPr>
            <a:r>
              <a:t>Conclusion</a:t>
            </a:r>
          </a:p>
          <a:p>
            <a:pPr>
              <a:spcAft>
                <a:spcPts val="700"/>
              </a:spcAft>
              <a:defRPr sz="2100">
                <a:solidFill>
                  <a:srgbClr val="B2BECD"/>
                </a:solidFill>
              </a:defRPr>
            </a:pPr>
            <a:r>
              <a:t>- Built an AI system for FDM defect detection</a:t>
            </a:r>
          </a:p>
          <a:p>
            <a:pPr>
              <a:spcAft>
                <a:spcPts val="700"/>
              </a:spcAft>
              <a:defRPr sz="2100">
                <a:solidFill>
                  <a:srgbClr val="B2BECD"/>
                </a:solidFill>
              </a:defRPr>
            </a:pPr>
            <a:r>
              <a:t>- EfficientNetB0 achieved 96.52% test accuracy on 8 classes</a:t>
            </a:r>
          </a:p>
          <a:p>
            <a:pPr>
              <a:spcAft>
                <a:spcPts val="700"/>
              </a:spcAft>
              <a:defRPr sz="2100">
                <a:solidFill>
                  <a:srgbClr val="B2BECD"/>
                </a:solidFill>
              </a:defRPr>
            </a:pPr>
            <a:r>
              <a:t>- App supports image upload, live webcam, AI feedback, and corrective actions</a:t>
            </a:r>
          </a:p>
          <a:p>
            <a:pPr>
              <a:spcAft>
                <a:spcPts val="700"/>
              </a:spcAft>
              <a:defRPr sz="2100">
                <a:solidFill>
                  <a:srgbClr val="B2BECD"/>
                </a:solidFill>
              </a:defRPr>
            </a:pPr>
            <a:r>
              <a:t>- Project aligns with CNN deep learning and AI applications in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2BECD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